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371600"/>
            <a:ext cx="4572000" cy="457200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931920"/>
            <a:ext cx="2926080" cy="2926080"/>
          </a:xfrm>
          <a:prstGeom prst="ellipse">
            <a:avLst/>
          </a:prstGeom>
          <a:solidFill>
            <a:srgbClr val="1C7293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920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ANALYSIS OF ALGORITHMS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8686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Divide &amp; Conquer: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Merge Sort Algorithm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4160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big problems into small, solvable pieces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4892040"/>
            <a:ext cx="502920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486460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log n)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5715000"/>
            <a:ext cx="5120640" cy="0"/>
          </a:xfrm>
          <a:prstGeom prst="line">
            <a:avLst/>
          </a:prstGeom>
          <a:noFill/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5852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VISWA TEJA    </a:t>
            </a:r>
            <a:pPr indent="0" marL="0">
              <a:buNone/>
            </a:pPr>
            <a:r>
              <a:rPr lang="en-US" sz="1300" b="1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 NO: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192311399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6172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ANALYSIS OF ALGORITHM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Divide &amp; Conquer?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429000" cy="3108960"/>
          </a:xfrm>
          <a:prstGeom prst="roundRect">
            <a:avLst>
              <a:gd name="adj" fmla="val 3529"/>
            </a:avLst>
          </a:prstGeom>
          <a:solidFill>
            <a:srgbClr val="E8F1F5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830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2880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problem into smaller subproblems of the same type.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43400" y="1463040"/>
            <a:ext cx="3429000" cy="3108960"/>
          </a:xfrm>
          <a:prstGeom prst="roundRect">
            <a:avLst>
              <a:gd name="adj" fmla="val 3529"/>
            </a:avLst>
          </a:prstGeom>
          <a:solidFill>
            <a:srgbClr val="E8F1F5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7830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17720" y="26060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Conquer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17720" y="3108960"/>
            <a:ext cx="2880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each subproblem recursively; base case solved directly.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138160" y="1463040"/>
            <a:ext cx="3429000" cy="3108960"/>
          </a:xfrm>
          <a:prstGeom prst="roundRect">
            <a:avLst>
              <a:gd name="adj" fmla="val 3529"/>
            </a:avLst>
          </a:prstGeom>
          <a:solidFill>
            <a:srgbClr val="E8F1F5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58200" y="17830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8458200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412480" y="26060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412480" y="3108960"/>
            <a:ext cx="2880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the subproblem solutions into the final answer.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" y="4800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to: Merge Sort, Quick Sort, Binary Search, Karatsuba multiplication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 Sort — How It Works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68580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6304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289304" y="1463040"/>
            <a:ext cx="68580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9304" y="146304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029968" y="1463040"/>
            <a:ext cx="68580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29968" y="146304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70632" y="1463040"/>
            <a:ext cx="68580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70632" y="146304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511296" y="1463040"/>
            <a:ext cx="68580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11296" y="146304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51960" y="1463040"/>
            <a:ext cx="68580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51960" y="146304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92624" y="1463040"/>
            <a:ext cx="68580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92624" y="146304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733288" y="1463040"/>
            <a:ext cx="68580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33288" y="146304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" y="210312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2468880"/>
            <a:ext cx="685800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46888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289304" y="2468880"/>
            <a:ext cx="685800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89304" y="246888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029968" y="2468880"/>
            <a:ext cx="685800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29968" y="246888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2770632" y="2468880"/>
            <a:ext cx="685800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70632" y="246888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94176" y="2468880"/>
            <a:ext cx="685800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94176" y="246888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434840" y="2468880"/>
            <a:ext cx="685800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34840" y="246888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175504" y="2468880"/>
            <a:ext cx="685800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75504" y="246888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916168" y="2468880"/>
            <a:ext cx="685800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16168" y="246888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48640" y="310896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(sorted)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" y="3474720"/>
            <a:ext cx="685800" cy="548640"/>
          </a:xfrm>
          <a:prstGeom prst="rect">
            <a:avLst/>
          </a:prstGeom>
          <a:solidFill>
            <a:srgbClr val="5FD3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347472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289304" y="3474720"/>
            <a:ext cx="685800" cy="548640"/>
          </a:xfrm>
          <a:prstGeom prst="rect">
            <a:avLst/>
          </a:prstGeom>
          <a:solidFill>
            <a:srgbClr val="5FD3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289304" y="347472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2029968" y="3474720"/>
            <a:ext cx="685800" cy="548640"/>
          </a:xfrm>
          <a:prstGeom prst="rect">
            <a:avLst/>
          </a:prstGeom>
          <a:solidFill>
            <a:srgbClr val="5FD3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029968" y="347472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2770632" y="3474720"/>
            <a:ext cx="685800" cy="548640"/>
          </a:xfrm>
          <a:prstGeom prst="rect">
            <a:avLst/>
          </a:prstGeom>
          <a:solidFill>
            <a:srgbClr val="5FD3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70632" y="347472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511296" y="3474720"/>
            <a:ext cx="685800" cy="548640"/>
          </a:xfrm>
          <a:prstGeom prst="rect">
            <a:avLst/>
          </a:prstGeom>
          <a:solidFill>
            <a:srgbClr val="5FD3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511296" y="347472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251960" y="3474720"/>
            <a:ext cx="685800" cy="548640"/>
          </a:xfrm>
          <a:prstGeom prst="rect">
            <a:avLst/>
          </a:prstGeom>
          <a:solidFill>
            <a:srgbClr val="5FD3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251960" y="347472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992624" y="3474720"/>
            <a:ext cx="685800" cy="548640"/>
          </a:xfrm>
          <a:prstGeom prst="rect">
            <a:avLst/>
          </a:prstGeom>
          <a:solidFill>
            <a:srgbClr val="5FD3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92624" y="347472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5733288" y="3474720"/>
            <a:ext cx="685800" cy="548640"/>
          </a:xfrm>
          <a:prstGeom prst="rect">
            <a:avLst/>
          </a:prstGeom>
          <a:solidFill>
            <a:srgbClr val="5FD3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733288" y="347472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766560" y="150876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4" name="Text 52"/>
          <p:cNvSpPr/>
          <p:nvPr/>
        </p:nvSpPr>
        <p:spPr>
          <a:xfrm>
            <a:off x="6766560" y="1508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7269480" y="1463040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Recursively split the array in half until each part has 1 element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6766560" y="228600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7" name="Text 55"/>
          <p:cNvSpPr/>
          <p:nvPr/>
        </p:nvSpPr>
        <p:spPr>
          <a:xfrm>
            <a:off x="676656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7269480" y="2240280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elements pairwise while merging halves back together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6766560" y="306324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0" name="Text 58"/>
          <p:cNvSpPr/>
          <p:nvPr/>
        </p:nvSpPr>
        <p:spPr>
          <a:xfrm>
            <a:off x="6766560" y="3063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7269480" y="3017520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merging until the entire array is sorted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Complexity Analysis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3383280"/>
          </a:xfrm>
          <a:prstGeom prst="roundRect">
            <a:avLst>
              <a:gd name="adj" fmla="val 3243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6002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FD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Recurrence Relation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68680" y="20574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T(n) = 2T(n/2) + O(n)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269748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2T(n/2)  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divide into 2 halves &amp; solve
</a:t>
            </a:r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 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cost of merging the halves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68680" y="36118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Master Theorem, this resolves to: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402336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FD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T(n) = O(n log n)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371600"/>
          <a:ext cx="5303520" cy="2743200"/>
        </p:xfrm>
        <a:graphic>
          <a:graphicData uri="http://schemas.openxmlformats.org/drawingml/2006/table">
            <a:tbl>
              <a:tblPr/>
              <a:tblGrid>
                <a:gridCol w="2651760"/>
                <a:gridCol w="265176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309360" y="434340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Quick Sort, Merge Sort has no worst-case blow-up — performance stays predictable.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E8F1F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Divide &amp; Conquer Matters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0352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9050">
            <a:solidFill>
              <a:srgbClr val="E8F1F5"/>
            </a:solidFill>
            <a:prstDash val="solid"/>
          </a:ln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45720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80136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Predictable Performance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2221992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O(n log n) regardless of input order — no worst-case surprises.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530352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9050">
            <a:solidFill>
              <a:srgbClr val="E8F1F5"/>
            </a:solidFill>
            <a:prstDash val="solid"/>
          </a:ln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1874520"/>
            <a:ext cx="45720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32320" y="180136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Stable Sorting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32320" y="2221992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the relative order of equal elements, unlike Quick Sort.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703320"/>
            <a:ext cx="530352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9050">
            <a:solidFill>
              <a:srgbClr val="E8F1F5"/>
            </a:solidFill>
            <a:prstDash val="solid"/>
          </a:ln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977640"/>
            <a:ext cx="45720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390448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Parallelizable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4325112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subproblems can be solved concurrently on multiple cores.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3703320"/>
            <a:ext cx="530352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9050">
            <a:solidFill>
              <a:srgbClr val="E8F1F5"/>
            </a:solidFill>
            <a:prstDash val="solid"/>
          </a:ln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3977640"/>
            <a:ext cx="45720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32320" y="390448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 for More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32320" y="4325112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strategy powers Quick Sort, Binary Search, and FFT algorithms.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2026-07-23T04:35:28Z</dcterms:created>
  <dcterms:modified xsi:type="dcterms:W3CDTF">2026-07-23T04:35:28Z</dcterms:modified>
</cp:coreProperties>
</file>